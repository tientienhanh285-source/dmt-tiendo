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TỔNG CÔNG TY DMT GROUP — BAN HÀNH CHÍNH NHÂN SỰ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HƯỚNG DẪN SỬ DỤNG HỆ THỐNG</a:t>
            </a:r>
            <a:br/>
            <a:r>
              <a:t>QUẢN LÝ TIẾN ĐỘ &amp; ĐÁNH GIÁ KPI</a:t>
            </a:r>
          </a:p>
          <a:p>
            <a:pPr>
              <a:spcAft>
                <a:spcPts val="800"/>
              </a:spcAft>
              <a:defRPr sz="1900">
                <a:solidFill>
                  <a:srgbClr val="93C5FD"/>
                </a:solidFill>
                <a:latin typeface="Arial"/>
              </a:defRPr>
            </a:pPr>
            <a:r>
              <a:t>Dành Cho Các Anh Chị Trưởng Ban &amp; Toàn Thể Cán Bộ Nhân Viên</a:t>
            </a:r>
          </a:p>
          <a:p>
            <a:pPr>
              <a:defRPr sz="1350" i="1">
                <a:solidFill>
                  <a:srgbClr val="E2E8F0"/>
                </a:solidFill>
                <a:latin typeface="Arial"/>
              </a:defRPr>
            </a:pPr>
            <a:r>
              <a:t>⚡ Tập trung thực hành   •   🎯 Nắm vững 5 nguyên tắc vận hành   •   🤝 An tâm trải nghiệm Quý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389120"/>
            <a:ext cx="10362895" cy="1645920"/>
          </a:xfrm>
          <a:prstGeom prst="roundRect">
            <a:avLst/>
          </a:prstGeom>
          <a:solidFill>
            <a:srgbClr val="113154"/>
          </a:solidFill>
          <a:ln w="1524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400">
                <a:solidFill>
                  <a:srgbClr val="F59E0B"/>
                </a:solidFill>
                <a:latin typeface="Arial"/>
              </a:defRPr>
            </a:pPr>
            <a:r>
              <a:t>MỤC TIÊU BUỔI HƯỚNG DẪN</a:t>
            </a:r>
          </a:p>
          <a:p>
            <a:pPr>
              <a:defRPr sz="1200">
                <a:solidFill>
                  <a:srgbClr val="FFFFFF"/>
                </a:solidFill>
                <a:latin typeface="Arial"/>
              </a:defRPr>
            </a:pPr>
            <a:r>
              <a:t>• Không đi sâu lý thuyết suông -&gt; Tập trung 100% vào thao tác thực tế và xử lý tình huống phát sinh.</a:t>
            </a:r>
            <a:br/>
            <a:r>
              <a:t>• Quý 4/2026: Giai đoạn chạy thử (Pilot) — Thoải mái làm quen tay, Ban HCNS hỗ trợ trực tiếp 24/7!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52CC"/>
                </a:solidFill>
                <a:latin typeface="Arial"/>
              </a:defRPr>
            </a:pPr>
            <a:r>
              <a:t>DMT GROUP • BAN HÀNH CHÍNH NHÂN SỰ</a:t>
            </a:r>
          </a:p>
          <a:p>
            <a:pPr>
              <a:defRPr sz="2200" b="1">
                <a:solidFill>
                  <a:srgbClr val="0A2540"/>
                </a:solidFill>
                <a:latin typeface="Arial"/>
              </a:defRPr>
            </a:pPr>
            <a:r>
              <a:t>Phần 1: Khai Mạc &amp; 3 Trọng Tâm Buổi Hướng Dẫn (5 Phút)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DMT Group — Hệ Thống Quản Lý Tiến Độ &amp; Đánh Giá KPI  |  Trang 2/14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400">
                <a:solidFill>
                  <a:srgbClr val="0052CC"/>
                </a:solidFill>
                <a:latin typeface="Arial"/>
              </a:defRPr>
            </a:pPr>
            <a:r>
              <a:t>🎯 3 NỘI DUNG TRỌNG TÂM HÔM NAY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1. Hiểu đúng vai trò &amp; trách nhiệm:</a:t>
            </a:r>
            <a:br/>
            <a:r>
              <a:t>Rõ ràng chức năng của Nhân viên (thực thi, cập nhật) và Quản lý (phân rã việc, nghiệm thu).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2. Hướng dẫn thao tác trực tiếp:</a:t>
            </a:r>
            <a:br/>
            <a:r>
              <a:t>Cầm tay chỉ việc: Tạo việc, cập nhật tiến độ, duyệt việc và nghiệm thu Chỉ tiêu theo đúng quyền.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3. Thống nhất xử lý tình huống:</a:t>
            </a:r>
            <a:br/>
            <a:r>
              <a:t>Giải quyết nhanh các tình huống thực tế thường gặp khi chạy thử.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645920"/>
            <a:ext cx="4937760" cy="438912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400">
                <a:solidFill>
                  <a:srgbClr val="0A2540"/>
                </a:solidFill>
                <a:latin typeface="Arial"/>
              </a:defRPr>
            </a:pPr>
            <a:r>
              <a:t>🌱 TINH THẦN QUÝ 4: CHẠY THỬ (PILOT)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Hệ thống dùng chung: Đăng nhập chọn đúng Công ty -&gt; Tên -&gt; Vai trò, dữ liệu hiển thị gọn gàng, không rối mắt.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Mục tiêu chạy thử Quý 4:</a:t>
            </a:r>
            <a:br/>
            <a:r>
              <a:t>  - Trưởng ban làm quen kỹ năng chia nhỏ mục tiêu trên máy.</a:t>
            </a:r>
            <a:br/>
            <a:r>
              <a:t>  - Nhân viên tập thói quen cập nhật tiến độ liên tục.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An tâm dùng thử: Bỡ ngỡ hay bấm nhầm là bình thường, tuyệt đối không bị phạt hay trừ lương.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Đồng hành 24/7: Ban HCNS tiếp nhận phản hồi tức thì để hoàn thiện hệ thống tốt nhất cho mọi người!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52CC"/>
                </a:solidFill>
                <a:latin typeface="Arial"/>
              </a:defRPr>
            </a:pPr>
            <a:r>
              <a:t>DMT GROUP • BAN HÀNH CHÍNH NHÂN SỰ</a:t>
            </a:r>
          </a:p>
          <a:p>
            <a:pPr>
              <a:defRPr sz="2200" b="1">
                <a:solidFill>
                  <a:srgbClr val="0A2540"/>
                </a:solidFill>
                <a:latin typeface="Arial"/>
              </a:defRPr>
            </a:pPr>
            <a:r>
              <a:t>Phần 2: Đối Chiếu Nhanh — Cách Làm Cũ vs 5 Nguyên Tắc Mới (7 Phút)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DMT Group — Hệ Thống Quản Lý Tiến Độ &amp; Đánh Giá KPI  |  Trang 3/14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300">
                <a:solidFill>
                  <a:srgbClr val="E11D48"/>
                </a:solidFill>
                <a:latin typeface="Arial"/>
              </a:defRPr>
            </a:pPr>
            <a:r>
              <a:t>❌ CÁCH LÀM CŨ (THỦ CÔNG / TRUYỀN THỐNG)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1. Tự nghĩ việc rời rạc: Nhân viên tự liệt kê việc trên Word/Excel, không rõ phục vụ mục tiêu nào của phòng.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2. Báo cáo một chiều: Coi báo cáo là làm nộp cho sếp; sếp giao việc miệng qua Zalo/email dễ thất lạc.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3. 'Dồn toa' cuối tháng: Cả tháng không cập nhật, đến sát ngày mới cuống cuồng làm; vướng mắc để cuối kỳ mới vỡ lở.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4. Duyệt miệng, thiếu minh chứng: Khai báo 'Đã xong' chung chung trên giấy tờ; duyệt theo cảm tính, tin tưởng miệng.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5. Ngộ nhận cấp độ: Thấy xong hết việc cá nhân là tưởng phòng hoàn thành; tạo tỷ lệ ảo dù dự án chung bị trễ!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300">
                <a:solidFill>
                  <a:srgbClr val="10B981"/>
                </a:solidFill>
                <a:latin typeface="Arial"/>
              </a:defRPr>
            </a:pPr>
            <a:r>
              <a:t>✅ 5 NGUYÊN TẮC MỚI TRÊN PHẦN MỀM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1. Trục dọc liên kết: Dự án ➔ Chỉ tiêu Ban ➔ Việc cá nhân. Làm việc nào rõ đích đến mục tiêu đó.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2. Trách nhiệm 2 chiều: Cả sếp và nhân viên đều làm việc; sếp phân rã chỉ tiêu và tự cập nhật việc của mình.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3. Cập nhật Real-time: Cập nhật liên tục ngay khi làm; có nguy cơ trễ / vướng mắc báo sớm để sếp hỗ trợ.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4. Minh chứng thực tế: Báo hoàn thành bắt buộc đính kèm File/Link; nghiệm thu dựa trên kết quả thực tế ngoài đời.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5. Rạch ròi 2 cấp độ: Việc cá nhân xong KHÔNG MẶC NHIÊN là xong Chỉ tiêu; Quản lý phải nghiệm thu Master View!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