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C000"/>
                </a:solidFill>
              </a:defRPr>
            </a:pPr>
            <a:r>
              <a:t>DMT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CHUYỂN ĐỔI SỐ TRONG QUẢN TRỊ NHÂN SỰ</a:t>
            </a:r>
            <a:br/>
            <a:r>
              <a:t>&amp; ĐÁNH GIÁ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Đơn vị trình bày: Ban Hành chính Nhân sự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Mục tiêu: Minh bạch hóa năng suất - Tối ưu hóa nguồn lực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C000"/>
                </a:solidFill>
              </a:defRPr>
            </a:pPr>
            <a:r>
              <a:t>DMT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FFFF"/>
                </a:solidFill>
              </a:defRPr>
            </a:pPr>
            <a:r>
              <a:t>THỰC TRẠNG &amp; NHỮNG BẤT CẬP HIỆN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003399"/>
                </a:solidFill>
              </a:defRPr>
            </a:pPr>
            <a:r>
              <a:t>Quy trình đánh giá hiện tại đang gặp các khó khăn:</a:t>
            </a:r>
          </a:p>
          <a:p>
            <a:pPr>
              <a:spcBef>
                <a:spcPts val="1400"/>
              </a:spcBef>
              <a:defRPr sz="2000">
                <a:solidFill>
                  <a:srgbClr val="404040"/>
                </a:solidFill>
              </a:defRPr>
            </a:pPr>
            <a:r>
              <a:t>❌ Chấm điểm cảm tính: Phụ thuộc nhiều vào trí nhớ và đánh giá chủ quan.</a:t>
            </a:r>
          </a:p>
          <a:p>
            <a:pPr>
              <a:spcBef>
                <a:spcPts val="1400"/>
              </a:spcBef>
              <a:defRPr sz="2000">
                <a:solidFill>
                  <a:srgbClr val="404040"/>
                </a:solidFill>
              </a:defRPr>
            </a:pPr>
            <a:r>
              <a:t>❌ Giao việc chồng chéo: Khó kiểm soát việc nhân sự làm sai chuyên môn (ngoài JD).</a:t>
            </a:r>
          </a:p>
          <a:p>
            <a:pPr>
              <a:spcBef>
                <a:spcPts val="1400"/>
              </a:spcBef>
              <a:defRPr sz="2000">
                <a:solidFill>
                  <a:srgbClr val="404040"/>
                </a:solidFill>
              </a:defRPr>
            </a:pPr>
            <a:r>
              <a:t>❌ Thiếu dữ liệu tổng quan: Ban Lãnh đạo không có cái nhìn tức thời (Real-time) về tỷ lệ hoàn thành công việc của từng phòng ban.</a:t>
            </a:r>
          </a:p>
          <a:p>
            <a:pPr>
              <a:spcBef>
                <a:spcPts val="1400"/>
              </a:spcBef>
              <a:defRPr sz="2000">
                <a:solidFill>
                  <a:srgbClr val="404040"/>
                </a:solidFill>
              </a:defRPr>
            </a:pPr>
            <a:r>
              <a:t>❌ Mất nhiều thời gian: HCNS và Kế toán mất quá nhiều ngày để gom nhặt báo cáo, tính toán Excel dễ xảy ra sai sót.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C000"/>
                </a:solidFill>
              </a:defRPr>
            </a:pPr>
            <a:r>
              <a:t>DMT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FFFF"/>
                </a:solidFill>
              </a:defRPr>
            </a:pPr>
            <a:r>
              <a:t>GIẢI PHÁP - HỆ THỐNG QUẢN TRỊ KPI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03399"/>
                </a:solidFill>
              </a:defRPr>
            </a:pPr>
            <a:r>
              <a:t>Thay đổi cách vận hành - Số hóa 100%</a:t>
            </a:r>
          </a:p>
          <a:p>
            <a:pPr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✅ Chấm điểm tự động: Điểm số tính toán tự động dựa trên Khối lượng, Tiến độ (Gantt Chart) và Trọng số.</a:t>
            </a:r>
          </a:p>
          <a:p>
            <a:pPr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✅ Dashboard Trực quan: Lãnh đạo theo dõi biểu đồ năng suất của từng Công ty/Phòng ban mọi lúc, mọi nơi.</a:t>
            </a:r>
          </a:p>
          <a:p>
            <a:pPr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✅ Minh bạch &amp; Công bằng: Cơ chế ghi nhận Điểm thưởng/Phạt rõ ràng trên hệ thống.</a:t>
            </a:r>
          </a:p>
        </p:txBody>
      </p:sp>
      <p:pic>
        <p:nvPicPr>
          <p:cNvPr id="6" name="Picture 5" descr="char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015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C000"/>
                </a:solidFill>
              </a:defRPr>
            </a:pPr>
            <a:r>
              <a:t>DMT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FFFF"/>
                </a:solidFill>
              </a:defRPr>
            </a:pPr>
            <a:r>
              <a:t>ĐỘT PHÁ CÔNG NGHỆ: TRÍ TUỆ NHÂN TẠO (AI)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200">
                <a:solidFill>
                  <a:srgbClr val="003399"/>
                </a:solidFill>
              </a:defRPr>
            </a:pPr>
            <a:r>
              <a:t>Tích hợp AI đối chiếu chuyên môn (JD)</a:t>
            </a:r>
          </a:p>
          <a:p>
            <a:pPr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1️⃣ Quét AI Hàng loạt (Magic Feature): Tự động đọc danh sách công việc của từng nhân sự.</a:t>
            </a:r>
          </a:p>
          <a:p>
            <a:pPr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2️⃣ Đối chiếu thông minh: AI đóng vai Giám đốc Nhân sự để phân tích xem công việc đó có khớp với Mô tả công việc (JD) hay không.</a:t>
            </a:r>
          </a:p>
          <a:p>
            <a:pPr>
              <a:spcBef>
                <a:spcPts val="1000"/>
              </a:spcBef>
              <a:defRPr sz="1800">
                <a:solidFill>
                  <a:srgbClr val="404040"/>
                </a:solidFill>
              </a:defRPr>
            </a:pPr>
            <a:r>
              <a:t>3️⃣ Nhận xét tự động: Đưa ra lời giải thích chi tiết tại sao công việc đó bị coi là 'Ngoài JD'.</a:t>
            </a:r>
          </a:p>
        </p:txBody>
      </p:sp>
      <p:pic>
        <p:nvPicPr>
          <p:cNvPr id="6" name="Picture 5" descr="chart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286000"/>
            <a:ext cx="3474720" cy="23546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FFC000"/>
                </a:solidFill>
              </a:defRPr>
            </a:pPr>
            <a:r>
              <a:t>DMT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2400">
                <a:solidFill>
                  <a:srgbClr val="FFFFFF"/>
                </a:solidFill>
              </a:defRPr>
            </a:pPr>
            <a:r>
              <a:t>LỘ TRÌNH TRIỂN KHAI (KẾ HOẠCH HÀNH ĐỘNG)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2743200"/>
          </a:xfrm>
          <a:prstGeom prst="roundRect">
            <a:avLst/>
          </a:prstGeom>
          <a:solidFill>
            <a:srgbClr val="E6F0FF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003399"/>
                </a:solidFill>
              </a:defRPr>
            </a:pPr>
            <a:r>
              <a:t>GIAI ĐOẠN 1: THỬ NGHIỆM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• Chạy song song tại 2 phòng ban: HCNS &amp; Kế toán.</a:t>
            </a:r>
          </a:p>
          <a:p>
            <a:pPr>
              <a:defRPr sz="1600">
                <a:solidFill>
                  <a:srgbClr val="404040"/>
                </a:solidFill>
              </a:defRPr>
            </a:pPr>
            <a:r>
              <a:t>• Thu thập phản hồi và tinh chỉnh phần mềm.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97680" y="2926080"/>
            <a:ext cx="548640" cy="54864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1828800"/>
            <a:ext cx="3200400" cy="2743200"/>
          </a:xfrm>
          <a:prstGeom prst="round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GIAI ĐOẠN 2: CHÍNH THỨC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Đóng hoàn toàn quy trình báo cáo Excel cũ.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Áp dụng cho 100% nhân sự toàn công 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C80000"/>
                </a:solidFill>
              </a:defRPr>
            </a:pPr>
            <a:r>
              <a:t>🎯 CAM KẾT: Tăng 40% hiệu suất quản lý báo cáo, giảm 100% sai sót do tính toán thủ công.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