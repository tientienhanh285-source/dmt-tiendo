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mạnh vào nỗi đau mất thời gian và sự thiếu công bằng hiện tại.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Arial"/>
              </a:defRPr>
            </a:pPr>
            <a:r>
              <a:t>CHUYỂN ĐỔI SỐ</a:t>
            </a:r>
          </a:p>
          <a:p>
            <a:pPr>
              <a:defRPr b="1">
                <a:solidFill>
                  <a:srgbClr val="003366"/>
                </a:solidFill>
                <a:latin typeface="Arial"/>
              </a:defRPr>
            </a:pPr>
            <a:r>
              <a:t>QUẢN LÝ CÔNG VIỆC &amp; ĐÁNH GIÁ KPI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latin typeface="Arial"/>
              </a:defRPr>
            </a:pPr>
            <a:r>
              <a:t>Từ Đánh Giá Hình Thức Đến Hiệu Quả Thực Chất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Arial"/>
              </a:defRPr>
            </a:pPr>
            <a:r>
              <a:t>Thực Trạng Đánh Giá KPI Hiện Nay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Arial"/>
              </a:defRPr>
            </a:pPr>
            <a:r>
              <a:t>❌ Thủ công &amp; Mất thời gian: Tổng hợp bằng file Word, mất rất nhiều công sức vào cuối mỗi quý/năm.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Arial"/>
              </a:defRPr>
            </a:pPr>
            <a:r>
              <a:t>❌ Mang tính hình thức (Cào bằng): Kết quả gần như ai cũng đạt loại A, không phản ánh đúng năng lực.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Arial"/>
              </a:defRPr>
            </a:pPr>
            <a:r>
              <a:t>❌ Cảm tính: Chấm điểm dựa trên cảm nhận thay vì bám sát danh sách công việc thực tế.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Arial"/>
              </a:defRPr>
            </a:pPr>
            <a:r>
              <a:t>Giải Pháp Phần Mềm Mới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Arial"/>
              </a:defRPr>
            </a:pPr>
            <a:r>
              <a:t>✅ Số hóa toàn diện: Đưa toàn bộ danh mục công việc lên phần mềm, theo dõi liên tục.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Arial"/>
              </a:defRPr>
            </a:pPr>
            <a:r>
              <a:t>✅ Đánh giá dựa trên minh chứng: Dữ liệu thực tế được ghi nhận làm cơ sở vững chắc cho KPI, đảm bảo tính minh bạch và công bằng tuyệt đối.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Arial"/>
              </a:defRPr>
            </a:pPr>
            <a:r>
              <a:t>Hệ Thống Phân Quyền Chuyên Biệt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6858000" cy="0"/>
          </a:xfrm>
        </p:spPr>
        <p:txBody>
          <a:bodyPr/>
          <a:lstStyle/>
          <a:p/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Arial"/>
              </a:defRPr>
            </a:pPr>
            <a:r>
              <a:t>📊 Bảng Tổng Quan (View): Dành cho Sếp xem xét bức tranh toàn cảnh.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Arial"/>
              </a:defRPr>
            </a:pPr>
            <a:r>
              <a:t>📖 Sổ tay Hướng dẫn: Tài liệu tra cứu nội bộ dùng chung.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Arial"/>
              </a:defRPr>
            </a:pPr>
            <a:r>
              <a:t>👤 Quyền Nhân Viên: Tập trung vào Bảng theo dõi tiến độ và Thêm/Cập nhật công việc.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Arial"/>
              </a:defRPr>
            </a:pPr>
            <a:r>
              <a:t>👥 Quyền Quản Lý: Bao gồm duyệt việc, đánh giá KPI, quản lý JD và Cấu hình.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2286000"/>
            <a:ext cx="6400800" cy="4114800"/>
          </a:xfrm>
          <a:prstGeom prst="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646464"/>
                </a:solidFill>
                <a:latin typeface="Arial"/>
              </a:defRPr>
            </a:pPr>
            <a:r>
              <a:t>[CHÈN HÌNH ẢNH MINH HỌA PHẦN MỀM]</a:t>
            </a:r>
          </a:p>
          <a:p>
            <a:pPr algn="ctr">
              <a:defRPr>
                <a:solidFill>
                  <a:srgbClr val="646464"/>
                </a:solidFill>
                <a:latin typeface="Arial"/>
              </a:defRPr>
            </a:pPr>
            <a:r>
              <a:t>(Ảnh 2 menu phân quyền của NV và QL)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Arial"/>
              </a:defRPr>
            </a:pPr>
            <a:r>
              <a:t>Quyền Nhân Viên: Tạo Việc Nhanh &amp; Tái Tạo Định Kỳ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6858000" cy="0"/>
          </a:xfrm>
        </p:spPr>
        <p:txBody>
          <a:bodyPr/>
          <a:lstStyle/>
          <a:p/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Arial"/>
              </a:defRPr>
            </a:pPr>
            <a:r>
              <a:t>• Nhân viên vào Bảng theo dõi tiến độ (có tính năng Sort) để tìm việc.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Arial"/>
              </a:defRPr>
            </a:pPr>
            <a:r>
              <a:t>• Thêm công việc mới cực nhanh.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Arial"/>
              </a:defRPr>
            </a:pPr>
            <a:r>
              <a:t>🌟 Tính năng Tái tạo định kỳ: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Arial"/>
              </a:defRPr>
            </a:pPr>
            <a:r>
              <a:t>  - Tự động hóa các việc lặp lại.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Arial"/>
              </a:defRPr>
            </a:pPr>
            <a:r>
              <a:t>  - Ví dụ: Tháng 9 tạo việc 'Tính lương', tháng 10 chỉ cần bấm 'Tái tạo định kỳ' là hệ thống sinh ra công việc tương tự.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2286000"/>
            <a:ext cx="6400800" cy="4114800"/>
          </a:xfrm>
          <a:prstGeom prst="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646464"/>
                </a:solidFill>
                <a:latin typeface="Arial"/>
              </a:defRPr>
            </a:pPr>
            <a:r>
              <a:t>[CHÈN HÌNH ẢNH MINH HỌA PHẦN MỀM]</a:t>
            </a:r>
          </a:p>
          <a:p>
            <a:pPr algn="ctr">
              <a:defRPr>
                <a:solidFill>
                  <a:srgbClr val="646464"/>
                </a:solidFill>
                <a:latin typeface="Arial"/>
              </a:defRPr>
            </a:pPr>
            <a:r>
              <a:t>(Ảnh tính năng tái tạo định kỳ)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Arial"/>
              </a:defRPr>
            </a:pPr>
            <a:r>
              <a:t>Quyền Nhân Viên: Cập Nhật Tiến Độ &amp; Vướng Mắc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6858000" cy="0"/>
          </a:xfrm>
        </p:spPr>
        <p:txBody>
          <a:bodyPr/>
          <a:lstStyle/>
          <a:p/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Arial"/>
              </a:defRPr>
            </a:pPr>
            <a:r>
              <a:t>✅ Hoàn thành: Cập nhật kết quả kèm theo Link đính kèm minh chứng.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Arial"/>
              </a:defRPr>
            </a:pPr>
            <a:r>
              <a:t>⚠️ Chưa hoàn thành: Bấm vào nút 'Vướng mắc' và điền rõ nguyên nhân.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Arial"/>
              </a:defRPr>
            </a:pPr>
            <a:r>
              <a:t>• Phân loại nguyên nhân: Chọn lý do là Chủ quan hay Khách quan.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Arial"/>
              </a:defRPr>
            </a:pPr>
            <a:r>
              <a:t>• Lưu ý quan trọng: Nếu là lý do Khách quan, hệ thống sẽ tự động gửi thông báo (với các mức đề xuất như 50, 70 điểm...) đến Quản lý để xử lý.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2286000"/>
            <a:ext cx="6400800" cy="4114800"/>
          </a:xfrm>
          <a:prstGeom prst="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646464"/>
                </a:solidFill>
                <a:latin typeface="Arial"/>
              </a:defRPr>
            </a:pPr>
            <a:r>
              <a:t>[CHÈN HÌNH ẢNH MINH HỌA PHẦN MỀM]</a:t>
            </a:r>
          </a:p>
          <a:p>
            <a:pPr algn="ctr">
              <a:defRPr>
                <a:solidFill>
                  <a:srgbClr val="646464"/>
                </a:solidFill>
                <a:latin typeface="Arial"/>
              </a:defRPr>
            </a:pPr>
            <a:r>
              <a:t>(Ảnh giao diện cập nhật vướng mắc)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Arial"/>
              </a:defRPr>
            </a:pPr>
            <a:r>
              <a:t>Quyền Quản Lý: Duyệt Việc Khách Quan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Arial"/>
              </a:defRPr>
            </a:pPr>
            <a:r>
              <a:t>• Quản lý xem xét các 'Vướng mắc khách quan' mà nhân viên gửi lên.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Arial"/>
              </a:defRPr>
            </a:pPr>
            <a:r>
              <a:t>• Chấm điểm theo khối lượng công việc đã làm ở các mức độ.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Arial"/>
              </a:defRPr>
            </a:pPr>
            <a:r>
              <a:t>• Tầm quan trọng: Điểm số từ bước duyệt việc khách quan này sẽ được liên kết trực tiếp và ảnh hưởng đến việc chấm điểm KPI cuối cùng.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Arial"/>
              </a:defRPr>
            </a:pPr>
            <a:r>
              <a:t>Quy Trình Chấm KPI Cuối Kỳ (TBP &amp; Tổ KPI)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Arial"/>
              </a:defRPr>
            </a:pPr>
            <a:r>
              <a:t>• Trưởng Bộ Phận (TBP) và Tổ KPI tiến hành đánh giá cuối kỳ.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Arial"/>
              </a:defRPr>
            </a:pPr>
            <a:r>
              <a:t>• Phần mềm đề xuất: Hệ thống tự động tính toán điểm số KPI đề xuất dựa trên dữ liệu công việc (gồm cả điểm duyệt khách quan).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Arial"/>
              </a:defRPr>
            </a:pPr>
            <a:r>
              <a:t>• Dò lại: Tổ KPI và TBP chỉ cần dựa trên điểm đề xuất để dò lại, đối chiếu các trường hợp đặc biệt để chốt KPI.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Arial"/>
              </a:defRPr>
            </a:pPr>
            <a:r>
              <a:t>• Xóa bỏ hoàn toàn tình trạng 'A mặc định' cuối năm.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Arial"/>
              </a:defRPr>
            </a:pPr>
            <a:r>
              <a:t>Đối Chiếu JD (Mô Tả Công Việc) Bằng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Arial"/>
              </a:defRPr>
            </a:pPr>
            <a:r>
              <a:t>• Tổ KPI dùng hệ thống JD để đối chiếu xem nhân viên đăng ký công việc có hợp lý không.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Arial"/>
              </a:defRPr>
            </a:pPr>
            <a:r>
              <a:t>🤖 Tích hợp AI Thông minh: Phần mềm sử dụng AI để 'đọc' và so sánh giữa JD chuẩn với các công việc nhân viên thực tế tạo.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Arial"/>
              </a:defRPr>
            </a:pPr>
            <a:r>
              <a:t>• AI sẽ cảnh báo nếu phát hiện một nhân viên đang làm các công việc sai lệch quá nhiều so với JD ban đầu của họ.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Arial"/>
              </a:defRPr>
            </a:pPr>
            <a:r>
              <a:t>Lộ Trình Triển Khai &amp; Áp Dụng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Arial"/>
              </a:defRPr>
            </a:pPr>
            <a:r>
              <a:t>1. 🤝 Họp Ban Lãnh Đạo: Thống nhất chủ trương, lấy ý kiến đóng góp.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Arial"/>
              </a:defRPr>
            </a:pPr>
            <a:r>
              <a:t>2. 📢 Thu thập JD: HCNS yêu cầu các phòng ban rà soát và gửi JD lên hệ thống.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Arial"/>
              </a:defRPr>
            </a:pPr>
            <a:r>
              <a:t>3. 🧪 Thử nghiệm (1-2 tháng): Chạy Pilot thực tế phần mềm, thu thập phản hồi, góp ý từ người dùng và tinh chỉnh.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Arial"/>
              </a:defRPr>
            </a:pPr>
            <a:r>
              <a:t>4. 🚀 Áp dụng chính thức: Chuyển đổi hoàn toàn! Đánh giá KPI 100% trên phần mềm.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